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68" r:id="rId4"/>
    <p:sldId id="269" r:id="rId5"/>
    <p:sldId id="257" r:id="rId6"/>
    <p:sldId id="258" r:id="rId7"/>
    <p:sldId id="260" r:id="rId8"/>
    <p:sldId id="259" r:id="rId9"/>
    <p:sldId id="272" r:id="rId10"/>
    <p:sldId id="261" r:id="rId11"/>
    <p:sldId id="277" r:id="rId12"/>
    <p:sldId id="276" r:id="rId13"/>
    <p:sldId id="262" r:id="rId14"/>
    <p:sldId id="266" r:id="rId15"/>
    <p:sldId id="275" r:id="rId16"/>
    <p:sldId id="263" r:id="rId17"/>
    <p:sldId id="274" r:id="rId18"/>
    <p:sldId id="264" r:id="rId19"/>
    <p:sldId id="265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AC5169-9A68-711A-7759-023617F0FD08}"/>
              </a:ext>
            </a:extLst>
          </p:cNvPr>
          <p:cNvSpPr/>
          <p:nvPr/>
        </p:nvSpPr>
        <p:spPr>
          <a:xfrm>
            <a:off x="0" y="-1"/>
            <a:ext cx="9144000" cy="1563329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8E2FB-8268-967B-C010-E1FF86583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458" y="407135"/>
            <a:ext cx="7772400" cy="1563329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Instrument Sans Medium" pitchFamily="34" charset="-122"/>
                <a:cs typeface="Instrument Sans Medium" pitchFamily="34" charset="-120"/>
              </a:rPr>
              <a:t>ESP32-Based Universal PLC Protocol Bridge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F2FBB-150A-8494-1BDE-E0D5ABD0E0E1}"/>
              </a:ext>
            </a:extLst>
          </p:cNvPr>
          <p:cNvSpPr txBox="1"/>
          <p:nvPr/>
        </p:nvSpPr>
        <p:spPr>
          <a:xfrm>
            <a:off x="1273277" y="2479834"/>
            <a:ext cx="659744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a typeface="Open Sans" pitchFamily="34" charset="-122"/>
                <a:cs typeface="Open Sans" pitchFamily="34" charset="-120"/>
              </a:rPr>
              <a:t>Charith Sai Sathvik Ale</a:t>
            </a:r>
          </a:p>
          <a:p>
            <a:pPr algn="ctr"/>
            <a:endParaRPr lang="en-US" sz="1800" dirty="0">
              <a:ea typeface="Open Sans" pitchFamily="34" charset="-122"/>
              <a:cs typeface="Open Sans" pitchFamily="34" charset="-120"/>
            </a:endParaRPr>
          </a:p>
          <a:p>
            <a:pPr algn="ctr"/>
            <a:r>
              <a:rPr lang="en-US" dirty="0">
                <a:ea typeface="Open Sans" pitchFamily="34" charset="-122"/>
                <a:cs typeface="Open Sans" pitchFamily="34" charset="-120"/>
              </a:rPr>
              <a:t>EE 697 Graduate Project</a:t>
            </a:r>
          </a:p>
          <a:p>
            <a:pPr algn="ctr"/>
            <a:endParaRPr lang="en-US" sz="1800" dirty="0">
              <a:ea typeface="Open Sans" pitchFamily="34" charset="-122"/>
              <a:cs typeface="Open Sans" pitchFamily="34" charset="-120"/>
            </a:endParaRPr>
          </a:p>
          <a:p>
            <a:pPr algn="ctr"/>
            <a:r>
              <a:rPr lang="en-US" dirty="0">
                <a:ea typeface="Open Sans" pitchFamily="34" charset="-122"/>
                <a:cs typeface="Open Sans" pitchFamily="34" charset="-120"/>
              </a:rPr>
              <a:t>M.S In Electrical and Computer Engineering</a:t>
            </a:r>
          </a:p>
          <a:p>
            <a:pPr algn="ctr"/>
            <a:endParaRPr lang="en-US" dirty="0">
              <a:ea typeface="Open Sans" pitchFamily="34" charset="-122"/>
              <a:cs typeface="Open Sans" pitchFamily="34" charset="-120"/>
            </a:endParaRPr>
          </a:p>
          <a:p>
            <a:pPr algn="ctr"/>
            <a:endParaRPr lang="en-US" dirty="0">
              <a:ea typeface="Open Sans" pitchFamily="34" charset="-122"/>
              <a:cs typeface="Open Sans" pitchFamily="34" charset="-120"/>
            </a:endParaRPr>
          </a:p>
          <a:p>
            <a:pPr algn="ctr"/>
            <a:r>
              <a:rPr lang="en-US" dirty="0">
                <a:ea typeface="Open Sans" pitchFamily="34" charset="-122"/>
                <a:cs typeface="Open Sans" pitchFamily="34" charset="-120"/>
              </a:rPr>
              <a:t>Dr. Leon </a:t>
            </a:r>
            <a:r>
              <a:rPr lang="en-US" dirty="0" err="1">
                <a:ea typeface="Open Sans" pitchFamily="34" charset="-122"/>
                <a:cs typeface="Open Sans" pitchFamily="34" charset="-120"/>
              </a:rPr>
              <a:t>Jololian</a:t>
            </a:r>
            <a:endParaRPr lang="en-US" dirty="0">
              <a:ea typeface="Open Sans" pitchFamily="34" charset="-122"/>
              <a:cs typeface="Open Sans" pitchFamily="34" charset="-120"/>
            </a:endParaRPr>
          </a:p>
          <a:p>
            <a:pPr algn="ctr"/>
            <a:r>
              <a:rPr lang="en-US" dirty="0">
                <a:ea typeface="Open Sans" pitchFamily="34" charset="-122"/>
                <a:cs typeface="Open Sans" pitchFamily="34" charset="-120"/>
              </a:rPr>
              <a:t>Chair and Professor, Department of ECE</a:t>
            </a:r>
          </a:p>
          <a:p>
            <a:pPr algn="ctr"/>
            <a:endParaRPr lang="en-US" dirty="0">
              <a:ea typeface="Open Sans" pitchFamily="34" charset="-122"/>
              <a:cs typeface="Open Sans" pitchFamily="34" charset="-120"/>
            </a:endParaRPr>
          </a:p>
          <a:p>
            <a:pPr algn="ctr"/>
            <a:r>
              <a:rPr lang="en-US" dirty="0">
                <a:ea typeface="Open Sans" pitchFamily="34" charset="-122"/>
                <a:cs typeface="Open Sans" pitchFamily="34" charset="-120"/>
              </a:rPr>
              <a:t>University of Alabama at Birmingham</a:t>
            </a:r>
          </a:p>
          <a:p>
            <a:pPr algn="ctr"/>
            <a:endParaRPr lang="en-US" dirty="0">
              <a:ea typeface="Open Sans" pitchFamily="34" charset="-122"/>
              <a:cs typeface="Open Sans" pitchFamily="34" charset="-120"/>
            </a:endParaRPr>
          </a:p>
          <a:p>
            <a:pPr algn="ctr"/>
            <a:endParaRPr lang="en-US" dirty="0"/>
          </a:p>
          <a:p>
            <a:pPr algn="ctr"/>
            <a:r>
              <a:rPr lang="en-US" dirty="0"/>
              <a:t>12/10/2025</a:t>
            </a:r>
          </a:p>
          <a:p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DC3418-B7B0-5ACC-A83D-A2BA7C8CBADE}"/>
              </a:ext>
            </a:extLst>
          </p:cNvPr>
          <p:cNvSpPr/>
          <p:nvPr/>
        </p:nvSpPr>
        <p:spPr>
          <a:xfrm>
            <a:off x="3527158" y="44079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60471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IDENTIFICATION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64D6130-D3CA-F5A6-8E61-D437CB855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66162"/>
            <a:ext cx="8229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Legacy PLCs rely on outdated fieldbus protocols (RS-232/Modbus RTU) that don’t integrate with modern IT/OT platforms.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interoperability blocks Industry 4.0 adoption — analytics, dashboards, cloud systems cannot read PLC data natively.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Commercial protocol bridges are expensive, closed-source, and rarely customizable for safety-critical workflows.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Small/medium plants cannot modernize without costly hardware replacements.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There is a clear need for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low-cost, deterministic, and secure PLC-to-MQTT gateway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legacy automation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D1ED7D-91B0-9E41-8995-EFB79125A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809" y="1162807"/>
            <a:ext cx="3850418" cy="267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F81E5E3-444E-ED0A-2F94-75F70A9E7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809" y="3857878"/>
            <a:ext cx="4356907" cy="301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B54035E-A6E7-B304-2C51-12B370438A6F}"/>
              </a:ext>
            </a:extLst>
          </p:cNvPr>
          <p:cNvSpPr/>
          <p:nvPr/>
        </p:nvSpPr>
        <p:spPr>
          <a:xfrm>
            <a:off x="-2287" y="-19807"/>
            <a:ext cx="91440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53FA4-597B-DB3D-CC05-946FC357C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086" y="56653"/>
            <a:ext cx="5408357" cy="11617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IN" kern="1200" dirty="0">
                <a:solidFill>
                  <a:schemeClr val="tx1"/>
                </a:solidFill>
                <a:ea typeface="+mj-ea"/>
                <a:cs typeface="+mj-cs"/>
              </a:rPr>
              <a:t>Problem Identification</a:t>
            </a:r>
            <a:endParaRPr lang="en-US" kern="120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0C0665D-BED6-8C4B-D99B-4832211D7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15" y="1830200"/>
            <a:ext cx="375513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Majority of industrial systems still rely on legacy/on-premise controls.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High-growth sectors expect cloud-connected control systems.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Digital maturity gap is largest in industries relying on older PLC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717752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C681C68-0565-56EE-7359-A66B466CB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74143"/>
            <a:ext cx="4553629" cy="271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49A02C-3B47-B6C1-9239-AD48F5C0BB51}"/>
              </a:ext>
            </a:extLst>
          </p:cNvPr>
          <p:cNvSpPr txBox="1"/>
          <p:nvPr/>
        </p:nvSpPr>
        <p:spPr>
          <a:xfrm>
            <a:off x="18371" y="1840159"/>
            <a:ext cx="45720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Legacy/Standard PLCs still dominate the market but lack in edge analytics, IIoT connectivity and limited to serial/local while 58% of new Smart PLCs include built-in data analysis and cloud ready.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While legacy PLC growth is slow (~3-4% replacement), Smart/Edge PLC technology adoption shows high growth (~12%).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/>
              <a:t>The gap between capability and adoption drives demand for retrofit solutions.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8590D-4CA4-2BB0-1F98-8BAAC537492E}"/>
              </a:ext>
            </a:extLst>
          </p:cNvPr>
          <p:cNvSpPr/>
          <p:nvPr/>
        </p:nvSpPr>
        <p:spPr>
          <a:xfrm>
            <a:off x="0" y="-36871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E6C88-0EBB-2059-43F8-E283064EE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6189"/>
            <a:ext cx="8229600" cy="1143000"/>
          </a:xfrm>
        </p:spPr>
        <p:txBody>
          <a:bodyPr/>
          <a:lstStyle/>
          <a:p>
            <a:r>
              <a:rPr lang="en-IN" dirty="0"/>
              <a:t>PROBLEM IDENTIFICATION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14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F231F-B1EC-9D40-44C5-6FBE65F7680A}"/>
              </a:ext>
            </a:extLst>
          </p:cNvPr>
          <p:cNvSpPr txBox="1"/>
          <p:nvPr/>
        </p:nvSpPr>
        <p:spPr>
          <a:xfrm>
            <a:off x="327536" y="1689715"/>
            <a:ext cx="848892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Recent studies show increasing demand for IIoT gateways that bridge legacy fieldbus protocols with cloud-ready systems.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RS-232 remains widely used in older PLC installations, despite its distance and noise limitations, making retrofit solutions essential.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MQTT is consistently identified as the preferred lightweight protocol for scalable industrial telemetry and remote monitoring.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Literature highlights that most commercial gateways lack robust write-path safety, posing risks for factory control operations.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Academic work emphasizes the growing need for customizable, edge-level protocol conversion, aligning directly with this project’s objective.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05B58D7-1FC7-7C1E-88C1-A4C57048B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51" y="1669696"/>
            <a:ext cx="871629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RS-232 provides maximum compatibility with legacy Click PLC hardware, while RS-485 offers better noise immunity but is unnecessary for short-range lab setups.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ESP32 delivers strong real-time performance and integrated connectivity at a fraction of the cost of SBC-based industrial gateways.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MQTT enables clean topic isolation, scalability, and cross-platform interoperability — capabilities Modbus alone cannot provide.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Commercial gateways are often expensive, closed-source, and difficult to customize for safety-critical or experimental environments.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achieves a superior balance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cost, determinism, flexibility, and write-path safety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compared to existing solutions.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"/>
            <a:ext cx="9144000" cy="1142999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DESCRIPTION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E8D04A6-34C1-A2E9-3783-6CC8319F5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542" y="2321172"/>
            <a:ext cx="8229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project develops a bridge that connects a Click PLC to modern IT/OT systems using an ESP32 intermediary.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RS-232 (via MAX3232) carries Modbus RTU data from the PLC into the ESP32 for protocol conversion.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MQTT is used as the lightweight messaging backbone for telemetry and controlled write operations.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demonstrates a low-cost, open, and extensible path for modernizing legacy industrial equipment.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WORKING PRINCIPLE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7365BB2-84CD-3A36-8B15-B2F3C7C32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68" y="2086057"/>
            <a:ext cx="872121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ESP32 periodically polls PLC registers using Modbus RTU over the RS-232 → TTL interface.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Modbus response is decoded, sanitized, and converted into structured MQTT payloads.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OLED display gives real-time feedback such as Wi-Fi status, last read value, polling errors, and latency metrics.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/>
              <a:t>Values published on MQTT and can publish safe write commands back to the PLC.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Any write command follows a validation chain (topic isolation + value checks) to avoid unsafe PLC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8E0F800-9714-226A-027E-1C676B07C3BC}"/>
              </a:ext>
            </a:extLst>
          </p:cNvPr>
          <p:cNvSpPr/>
          <p:nvPr/>
        </p:nvSpPr>
        <p:spPr>
          <a:xfrm>
            <a:off x="0" y="0"/>
            <a:ext cx="9144000" cy="784088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FF558B48-1F01-4EC3-C493-A230C19B1CB6}"/>
              </a:ext>
            </a:extLst>
          </p:cNvPr>
          <p:cNvSpPr/>
          <p:nvPr/>
        </p:nvSpPr>
        <p:spPr>
          <a:xfrm>
            <a:off x="742190" y="1779805"/>
            <a:ext cx="23205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chemeClr val="accent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PLC Interface</a:t>
            </a:r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BC4D125-5BC1-94FE-EFC6-BD2B9B94A473}"/>
              </a:ext>
            </a:extLst>
          </p:cNvPr>
          <p:cNvSpPr/>
          <p:nvPr/>
        </p:nvSpPr>
        <p:spPr>
          <a:xfrm>
            <a:off x="667008" y="2203131"/>
            <a:ext cx="2035435" cy="151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/>
              <a:t>Handles Modbus RTU acquisition, validation, and periodic polling</a:t>
            </a:r>
            <a:r>
              <a:rPr lang="en-US" sz="1600" dirty="0"/>
              <a:t>.</a:t>
            </a:r>
            <a:endParaRPr lang="en-US" sz="17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3212076-B34A-66F3-AC47-F3D7C1A9F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558" y="1508938"/>
            <a:ext cx="4564975" cy="4564975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DD4DE2B9-7612-2127-5E30-0ADC2F60C8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0267" y="2800647"/>
            <a:ext cx="318968" cy="318968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6FDAABCD-8310-8EB4-1282-F38159D9F806}"/>
              </a:ext>
            </a:extLst>
          </p:cNvPr>
          <p:cNvSpPr/>
          <p:nvPr/>
        </p:nvSpPr>
        <p:spPr>
          <a:xfrm>
            <a:off x="6677421" y="1779805"/>
            <a:ext cx="20224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tx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Protocol Bridge</a:t>
            </a:r>
            <a:endParaRPr lang="en-US" sz="2200" dirty="0">
              <a:solidFill>
                <a:schemeClr val="tx2"/>
              </a:solidFill>
            </a:endParaRPr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A84CD23A-03B6-3965-9E47-949143C92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558" y="1508938"/>
            <a:ext cx="4564975" cy="4564975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B9EE2513-829B-0E55-D116-21830E7FB6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2618" y="2800647"/>
            <a:ext cx="318968" cy="318968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D4C6CB89-3FE0-DD91-5493-9F47DC27E3A7}"/>
              </a:ext>
            </a:extLst>
          </p:cNvPr>
          <p:cNvSpPr/>
          <p:nvPr/>
        </p:nvSpPr>
        <p:spPr>
          <a:xfrm>
            <a:off x="6767559" y="4405253"/>
            <a:ext cx="23205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accent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Messaging Layer</a:t>
            </a:r>
            <a:endParaRPr lang="en-US" sz="2200" dirty="0">
              <a:solidFill>
                <a:schemeClr val="accent6"/>
              </a:solidFill>
            </a:endParaRPr>
          </a:p>
        </p:txBody>
      </p:sp>
      <p:pic>
        <p:nvPicPr>
          <p:cNvPr id="10" name="Image 4" descr="preencoded.png">
            <a:extLst>
              <a:ext uri="{FF2B5EF4-FFF2-40B4-BE49-F238E27FC236}">
                <a16:creationId xmlns:a16="http://schemas.microsoft.com/office/drawing/2014/main" id="{FED5B7E7-241F-6B72-E8F5-7868D1CB54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558" y="1508938"/>
            <a:ext cx="4564975" cy="4564975"/>
          </a:xfrm>
          <a:prstGeom prst="rect">
            <a:avLst/>
          </a:prstGeom>
        </p:spPr>
      </p:pic>
      <p:pic>
        <p:nvPicPr>
          <p:cNvPr id="11" name="Image 5" descr="preencoded.png">
            <a:extLst>
              <a:ext uri="{FF2B5EF4-FFF2-40B4-BE49-F238E27FC236}">
                <a16:creationId xmlns:a16="http://schemas.microsoft.com/office/drawing/2014/main" id="{C0EFCAB0-40EA-8B63-1CF5-2E869899B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2618" y="4462998"/>
            <a:ext cx="318968" cy="318968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2EA4811E-6545-AF22-EE36-B59861E13248}"/>
              </a:ext>
            </a:extLst>
          </p:cNvPr>
          <p:cNvSpPr/>
          <p:nvPr/>
        </p:nvSpPr>
        <p:spPr>
          <a:xfrm>
            <a:off x="405481" y="4405253"/>
            <a:ext cx="23205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chemeClr val="accent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Applications Layer</a:t>
            </a:r>
            <a:endParaRPr lang="en-US" sz="2200" dirty="0">
              <a:solidFill>
                <a:schemeClr val="accent3"/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A1A6FD2-5B03-E37D-8904-6D71B7EF96F9}"/>
              </a:ext>
            </a:extLst>
          </p:cNvPr>
          <p:cNvSpPr/>
          <p:nvPr/>
        </p:nvSpPr>
        <p:spPr>
          <a:xfrm>
            <a:off x="353960" y="4718506"/>
            <a:ext cx="2497313" cy="186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/>
              <a:t>Consumes MQTT telemetry for dashboards, analytics, and future OPC UA integration.</a:t>
            </a:r>
          </a:p>
          <a:p>
            <a:pPr>
              <a:lnSpc>
                <a:spcPts val="2850"/>
              </a:lnSpc>
            </a:pPr>
            <a:endParaRPr lang="en-US" dirty="0"/>
          </a:p>
        </p:txBody>
      </p:sp>
      <p:pic>
        <p:nvPicPr>
          <p:cNvPr id="14" name="Image 6" descr="preencoded.png">
            <a:extLst>
              <a:ext uri="{FF2B5EF4-FFF2-40B4-BE49-F238E27FC236}">
                <a16:creationId xmlns:a16="http://schemas.microsoft.com/office/drawing/2014/main" id="{FC029B5E-2913-9949-BB65-CCEF9FAD6F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557" y="1513540"/>
            <a:ext cx="4564975" cy="4564975"/>
          </a:xfrm>
          <a:prstGeom prst="rect">
            <a:avLst/>
          </a:prstGeom>
        </p:spPr>
      </p:pic>
      <p:pic>
        <p:nvPicPr>
          <p:cNvPr id="15" name="Image 7" descr="preencoded.png">
            <a:extLst>
              <a:ext uri="{FF2B5EF4-FFF2-40B4-BE49-F238E27FC236}">
                <a16:creationId xmlns:a16="http://schemas.microsoft.com/office/drawing/2014/main" id="{F31FFA8B-0A40-4DA4-3527-BCC1E47FEF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30267" y="4462998"/>
            <a:ext cx="318968" cy="318968"/>
          </a:xfrm>
          <a:prstGeom prst="rect">
            <a:avLst/>
          </a:prstGeom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0905D409-FE3E-6C7A-B499-80016180FDFB}"/>
              </a:ext>
            </a:extLst>
          </p:cNvPr>
          <p:cNvSpPr/>
          <p:nvPr/>
        </p:nvSpPr>
        <p:spPr>
          <a:xfrm>
            <a:off x="6654360" y="2134135"/>
            <a:ext cx="2394714" cy="186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/>
              <a:t>Parses Modbus registers, applies function-code allow-lists, and maps validated values to MQTT topics.</a:t>
            </a: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029FA3E-AFDA-CDA3-811B-A25294235B5F}"/>
              </a:ext>
            </a:extLst>
          </p:cNvPr>
          <p:cNvSpPr/>
          <p:nvPr/>
        </p:nvSpPr>
        <p:spPr>
          <a:xfrm>
            <a:off x="6767559" y="4804410"/>
            <a:ext cx="2207565" cy="1540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/>
              <a:t>Manages reliable data transport over MQTT, with strict topic isolation for safety.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3DB33521-E8F0-01FF-A1BE-55517153A442}"/>
              </a:ext>
            </a:extLst>
          </p:cNvPr>
          <p:cNvSpPr/>
          <p:nvPr/>
        </p:nvSpPr>
        <p:spPr>
          <a:xfrm>
            <a:off x="78099" y="988289"/>
            <a:ext cx="9065901" cy="68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is divided into four principal subsystems, ensuring a clear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and secure communication pipeline.</a:t>
            </a:r>
            <a:endParaRPr lang="en-US" sz="175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2337E8A8-2A1A-57F8-5B2B-08B66A999A55}"/>
              </a:ext>
            </a:extLst>
          </p:cNvPr>
          <p:cNvSpPr/>
          <p:nvPr/>
        </p:nvSpPr>
        <p:spPr>
          <a:xfrm>
            <a:off x="821263" y="16399"/>
            <a:ext cx="7878638" cy="76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</a:t>
            </a:r>
            <a:r>
              <a:rPr lang="en-US" sz="445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ystem Architecture Overview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1810775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"/>
            <a:ext cx="9144000" cy="1142999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SETUP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9E7BAD0-1DAA-F884-2826-EA38AF09D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574" y="1965583"/>
            <a:ext cx="699073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Click PLC was configured to output Modbus register HR40001 and HR40002 over its RS-232 communication port.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MAX3232 level shifter converts the PLC’s RS-232 voltage levels to 3.3V TTL for the ESP32 UART.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ESP32 UART1 was mapped to custom RX/TX pins and configured for 9600 baud, 8N1 Modbus RTU framing.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local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Mosquitto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MQTT broker was installed on a laptop to receive telemetry and test write commands.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C610BF47-D3A7-31F7-6F2F-AF8A5A72B7D0}"/>
              </a:ext>
            </a:extLst>
          </p:cNvPr>
          <p:cNvSpPr/>
          <p:nvPr/>
        </p:nvSpPr>
        <p:spPr>
          <a:xfrm>
            <a:off x="4734905" y="3461410"/>
            <a:ext cx="4029339" cy="20674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9229932-EC57-F8A3-8DDD-45872A2A0406}"/>
              </a:ext>
            </a:extLst>
          </p:cNvPr>
          <p:cNvSpPr/>
          <p:nvPr/>
        </p:nvSpPr>
        <p:spPr>
          <a:xfrm>
            <a:off x="444087" y="3473441"/>
            <a:ext cx="4199457" cy="20674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9A275A0-3C25-1EFD-2B2B-22595B472B57}"/>
              </a:ext>
            </a:extLst>
          </p:cNvPr>
          <p:cNvSpPr/>
          <p:nvPr/>
        </p:nvSpPr>
        <p:spPr>
          <a:xfrm>
            <a:off x="4734905" y="1342003"/>
            <a:ext cx="4029339" cy="20674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2385AB4-1CAE-A92E-F7B2-9549EFECCBA9}"/>
              </a:ext>
            </a:extLst>
          </p:cNvPr>
          <p:cNvSpPr/>
          <p:nvPr/>
        </p:nvSpPr>
        <p:spPr>
          <a:xfrm>
            <a:off x="428622" y="1336979"/>
            <a:ext cx="4212665" cy="20674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7325D53-D8EB-A49C-8DB7-BB9FFF50A0B8}"/>
              </a:ext>
            </a:extLst>
          </p:cNvPr>
          <p:cNvSpPr/>
          <p:nvPr/>
        </p:nvSpPr>
        <p:spPr>
          <a:xfrm>
            <a:off x="428624" y="186835"/>
            <a:ext cx="8825143" cy="11501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28B7DEB-D7F2-EE83-AB3A-5983376F76D2}"/>
              </a:ext>
            </a:extLst>
          </p:cNvPr>
          <p:cNvSpPr/>
          <p:nvPr/>
        </p:nvSpPr>
        <p:spPr>
          <a:xfrm>
            <a:off x="0" y="1143000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C8B0AD9-2AF7-3F83-9D92-0D59C110803C}"/>
              </a:ext>
            </a:extLst>
          </p:cNvPr>
          <p:cNvSpPr/>
          <p:nvPr/>
        </p:nvSpPr>
        <p:spPr>
          <a:xfrm>
            <a:off x="428623" y="285749"/>
            <a:ext cx="8373035" cy="404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4000" b="1" dirty="0"/>
              <a:t>Project Setup – Software Configuration</a:t>
            </a:r>
            <a:endParaRPr lang="en-US" sz="4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26A3C5A-42AF-4208-A591-8A23E9FEA89E}"/>
              </a:ext>
            </a:extLst>
          </p:cNvPr>
          <p:cNvSpPr/>
          <p:nvPr/>
        </p:nvSpPr>
        <p:spPr>
          <a:xfrm>
            <a:off x="433632" y="1002641"/>
            <a:ext cx="7077771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/>
              <a:t>Systematic Troubleshooting Enabled Stable Communication Pipeline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AB2E999-1EB2-A3EA-FDDB-5933CF4F1CFA}"/>
              </a:ext>
            </a:extLst>
          </p:cNvPr>
          <p:cNvSpPr/>
          <p:nvPr/>
        </p:nvSpPr>
        <p:spPr>
          <a:xfrm>
            <a:off x="547474" y="1879636"/>
            <a:ext cx="4036219" cy="1670744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C2A6C50-84D9-4DC2-FA0A-3D75F7B593A9}"/>
              </a:ext>
            </a:extLst>
          </p:cNvPr>
          <p:cNvSpPr/>
          <p:nvPr/>
        </p:nvSpPr>
        <p:spPr>
          <a:xfrm>
            <a:off x="3287519" y="1561160"/>
            <a:ext cx="1034450" cy="158698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400" kern="0" spc="1" dirty="0"/>
              <a:t>Resolved</a:t>
            </a:r>
            <a:endParaRPr lang="en-US" sz="14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96E0ED32-A178-7135-DA7E-71A43B789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16" y="1532334"/>
            <a:ext cx="192881" cy="17145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7ACCFF61-175C-6364-E226-21F808B571FD}"/>
              </a:ext>
            </a:extLst>
          </p:cNvPr>
          <p:cNvSpPr/>
          <p:nvPr/>
        </p:nvSpPr>
        <p:spPr>
          <a:xfrm>
            <a:off x="892969" y="1519833"/>
            <a:ext cx="123501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OLED Subsystem</a:t>
            </a:r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ED6FEAB-AB7D-50AC-ADB3-B3F0D463779E}"/>
              </a:ext>
            </a:extLst>
          </p:cNvPr>
          <p:cNvSpPr/>
          <p:nvPr/>
        </p:nvSpPr>
        <p:spPr>
          <a:xfrm>
            <a:off x="571500" y="1919883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13842A9-AE40-5225-6D10-14EAAF7C9342}"/>
              </a:ext>
            </a:extLst>
          </p:cNvPr>
          <p:cNvSpPr/>
          <p:nvPr/>
        </p:nvSpPr>
        <p:spPr>
          <a:xfrm>
            <a:off x="678656" y="1927027"/>
            <a:ext cx="1053302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Power Gating:</a:t>
            </a:r>
            <a:endParaRPr lang="en-US" sz="14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B8BD99D-B07E-5A25-6A28-82924662F1C0}"/>
              </a:ext>
            </a:extLst>
          </p:cNvPr>
          <p:cNvSpPr/>
          <p:nvPr/>
        </p:nvSpPr>
        <p:spPr>
          <a:xfrm>
            <a:off x="1775006" y="1927027"/>
            <a:ext cx="152080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Enabled VEXT rail via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AD1C1C9E-07AA-D51C-08D1-3E94C4323AF4}"/>
              </a:ext>
            </a:extLst>
          </p:cNvPr>
          <p:cNvSpPr/>
          <p:nvPr/>
        </p:nvSpPr>
        <p:spPr>
          <a:xfrm>
            <a:off x="3265077" y="1936862"/>
            <a:ext cx="1079334" cy="1971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GPIO21 HIGH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5A8CDCE-3110-E255-E329-2A0806486EB4}"/>
              </a:ext>
            </a:extLst>
          </p:cNvPr>
          <p:cNvSpPr/>
          <p:nvPr/>
        </p:nvSpPr>
        <p:spPr>
          <a:xfrm>
            <a:off x="5473504" y="5717240"/>
            <a:ext cx="6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14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3A96E3F-F5F7-99FE-E0DC-1C2028028A75}"/>
              </a:ext>
            </a:extLst>
          </p:cNvPr>
          <p:cNvSpPr/>
          <p:nvPr/>
        </p:nvSpPr>
        <p:spPr>
          <a:xfrm>
            <a:off x="1725687" y="2156172"/>
            <a:ext cx="1044581" cy="1971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GPIO36 LOW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F8F37D2-5B48-98A8-4DF1-9293AC470F5F}"/>
              </a:ext>
            </a:extLst>
          </p:cNvPr>
          <p:cNvSpPr/>
          <p:nvPr/>
        </p:nvSpPr>
        <p:spPr>
          <a:xfrm>
            <a:off x="4194581" y="1927027"/>
            <a:ext cx="4488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.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D7066144-3F37-A022-1C60-10E6361617A7}"/>
              </a:ext>
            </a:extLst>
          </p:cNvPr>
          <p:cNvSpPr/>
          <p:nvPr/>
        </p:nvSpPr>
        <p:spPr>
          <a:xfrm>
            <a:off x="571500" y="2479184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55C5C61-F2B8-509A-D669-81C2FE827236}"/>
              </a:ext>
            </a:extLst>
          </p:cNvPr>
          <p:cNvSpPr/>
          <p:nvPr/>
        </p:nvSpPr>
        <p:spPr>
          <a:xfrm>
            <a:off x="670382" y="2455256"/>
            <a:ext cx="56265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I²C Bus:</a:t>
            </a:r>
            <a:endParaRPr lang="en-US" sz="14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22606541-1D5F-68F1-1177-4A38AD4E684A}"/>
              </a:ext>
            </a:extLst>
          </p:cNvPr>
          <p:cNvSpPr/>
          <p:nvPr/>
        </p:nvSpPr>
        <p:spPr>
          <a:xfrm>
            <a:off x="1288766" y="2465920"/>
            <a:ext cx="93371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Initialized on</a:t>
            </a: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0F14B4AE-BCFF-181F-0102-F14CD10EA294}"/>
              </a:ext>
            </a:extLst>
          </p:cNvPr>
          <p:cNvSpPr/>
          <p:nvPr/>
        </p:nvSpPr>
        <p:spPr>
          <a:xfrm>
            <a:off x="2750442" y="2472732"/>
            <a:ext cx="669542" cy="1971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SDA=17</a:t>
            </a: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01C07FE5-10C0-E1C8-320A-299255402EA4}"/>
              </a:ext>
            </a:extLst>
          </p:cNvPr>
          <p:cNvSpPr/>
          <p:nvPr/>
        </p:nvSpPr>
        <p:spPr>
          <a:xfrm>
            <a:off x="2183332" y="2472732"/>
            <a:ext cx="628890" cy="1971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SCL=18</a:t>
            </a: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3696552E-12E0-1BB2-8A5B-0807603DB59F}"/>
              </a:ext>
            </a:extLst>
          </p:cNvPr>
          <p:cNvSpPr/>
          <p:nvPr/>
        </p:nvSpPr>
        <p:spPr>
          <a:xfrm>
            <a:off x="2820916" y="2169914"/>
            <a:ext cx="4488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.</a:t>
            </a: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D409FE99-934A-1888-A998-7AEDAE61A023}"/>
              </a:ext>
            </a:extLst>
          </p:cNvPr>
          <p:cNvSpPr/>
          <p:nvPr/>
        </p:nvSpPr>
        <p:spPr>
          <a:xfrm>
            <a:off x="571500" y="2720200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F6A1E442-2F9D-7FF3-0EE4-8BC5EB714D5F}"/>
              </a:ext>
            </a:extLst>
          </p:cNvPr>
          <p:cNvSpPr/>
          <p:nvPr/>
        </p:nvSpPr>
        <p:spPr>
          <a:xfrm>
            <a:off x="685708" y="2691111"/>
            <a:ext cx="56425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Library:</a:t>
            </a:r>
            <a:endParaRPr lang="en-US" sz="14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94CD72D0-07EF-BED4-8ACD-FC87E375675D}"/>
              </a:ext>
            </a:extLst>
          </p:cNvPr>
          <p:cNvSpPr/>
          <p:nvPr/>
        </p:nvSpPr>
        <p:spPr>
          <a:xfrm>
            <a:off x="1331839" y="2693747"/>
            <a:ext cx="2999705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Migrated to official Adafruit SSD1306/GFX to fix constructor mismatches.</a:t>
            </a: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92666E46-C069-7C73-D8C4-96E905811B24}"/>
              </a:ext>
            </a:extLst>
          </p:cNvPr>
          <p:cNvSpPr/>
          <p:nvPr/>
        </p:nvSpPr>
        <p:spPr>
          <a:xfrm>
            <a:off x="7495719" y="1554990"/>
            <a:ext cx="1076781" cy="158698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400" kern="0" spc="1" dirty="0"/>
              <a:t>Connected</a:t>
            </a:r>
            <a:endParaRPr lang="en-US" sz="1400" dirty="0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DA086B6C-5073-99F1-7775-36512DD10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1532334"/>
            <a:ext cx="214313" cy="171450"/>
          </a:xfrm>
          <a:prstGeom prst="rect">
            <a:avLst/>
          </a:prstGeom>
        </p:spPr>
      </p:pic>
      <p:sp>
        <p:nvSpPr>
          <p:cNvPr id="36" name="Text 30">
            <a:extLst>
              <a:ext uri="{FF2B5EF4-FFF2-40B4-BE49-F238E27FC236}">
                <a16:creationId xmlns:a16="http://schemas.microsoft.com/office/drawing/2014/main" id="{A2787CFD-5642-F39A-79F1-24417B3B192D}"/>
              </a:ext>
            </a:extLst>
          </p:cNvPr>
          <p:cNvSpPr/>
          <p:nvPr/>
        </p:nvSpPr>
        <p:spPr>
          <a:xfrm>
            <a:off x="5143500" y="1519833"/>
            <a:ext cx="131042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Network &amp; MQTT</a:t>
            </a:r>
            <a:endParaRPr lang="en-US" sz="1400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B5DF9487-4CB0-5A61-6137-FA1F63C1381D}"/>
              </a:ext>
            </a:extLst>
          </p:cNvPr>
          <p:cNvSpPr/>
          <p:nvPr/>
        </p:nvSpPr>
        <p:spPr>
          <a:xfrm>
            <a:off x="4822031" y="1919883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F6EF98A-9473-91DD-9424-FC274FC408F0}"/>
              </a:ext>
            </a:extLst>
          </p:cNvPr>
          <p:cNvSpPr/>
          <p:nvPr/>
        </p:nvSpPr>
        <p:spPr>
          <a:xfrm>
            <a:off x="4929188" y="1927027"/>
            <a:ext cx="544316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Broker:</a:t>
            </a:r>
            <a:endParaRPr lang="en-US" sz="14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206AD560-C7CF-C1BC-0BF3-6B5189650AD3}"/>
              </a:ext>
            </a:extLst>
          </p:cNvPr>
          <p:cNvSpPr/>
          <p:nvPr/>
        </p:nvSpPr>
        <p:spPr>
          <a:xfrm>
            <a:off x="5499295" y="1919883"/>
            <a:ext cx="241163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Mosquitto running on Windows host (</a:t>
            </a:r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50AA4519-66DF-09BD-826F-C5B6386C8A07}"/>
              </a:ext>
            </a:extLst>
          </p:cNvPr>
          <p:cNvSpPr/>
          <p:nvPr/>
        </p:nvSpPr>
        <p:spPr>
          <a:xfrm>
            <a:off x="5901453" y="2106309"/>
            <a:ext cx="1565044" cy="1971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192.168.1.162:1883</a:t>
            </a:r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ED6C8B04-4BF1-7F28-C859-41F457D4FF80}"/>
              </a:ext>
            </a:extLst>
          </p:cNvPr>
          <p:cNvSpPr/>
          <p:nvPr/>
        </p:nvSpPr>
        <p:spPr>
          <a:xfrm flipH="1">
            <a:off x="7405559" y="2105809"/>
            <a:ext cx="562959" cy="182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).</a:t>
            </a:r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2A9553AE-2E19-D59D-AB5B-2C3CD86F846D}"/>
              </a:ext>
            </a:extLst>
          </p:cNvPr>
          <p:cNvSpPr/>
          <p:nvPr/>
        </p:nvSpPr>
        <p:spPr>
          <a:xfrm>
            <a:off x="4822031" y="2334220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8EEE224D-CA42-1512-4880-67C964AF0131}"/>
              </a:ext>
            </a:extLst>
          </p:cNvPr>
          <p:cNvSpPr/>
          <p:nvPr/>
        </p:nvSpPr>
        <p:spPr>
          <a:xfrm>
            <a:off x="4929188" y="2341364"/>
            <a:ext cx="88485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Firewall Fix:</a:t>
            </a:r>
            <a:endParaRPr lang="en-US" sz="1400" dirty="0"/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70B017D3-8875-2AA3-22E4-C59BE203D469}"/>
              </a:ext>
            </a:extLst>
          </p:cNvPr>
          <p:cNvSpPr/>
          <p:nvPr/>
        </p:nvSpPr>
        <p:spPr>
          <a:xfrm>
            <a:off x="5843559" y="2339012"/>
            <a:ext cx="3365013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Changed network profile from Public to Private to allow inbound TCP.</a:t>
            </a:r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BDB05E00-9CE8-A6BB-EF27-72F2F8FF7655}"/>
              </a:ext>
            </a:extLst>
          </p:cNvPr>
          <p:cNvSpPr/>
          <p:nvPr/>
        </p:nvSpPr>
        <p:spPr>
          <a:xfrm>
            <a:off x="4822031" y="2748558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258E0939-9AAC-3753-D088-217A6F487EBF}"/>
              </a:ext>
            </a:extLst>
          </p:cNvPr>
          <p:cNvSpPr/>
          <p:nvPr/>
        </p:nvSpPr>
        <p:spPr>
          <a:xfrm>
            <a:off x="4929188" y="2755702"/>
            <a:ext cx="48083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Client:</a:t>
            </a:r>
            <a:endParaRPr lang="en-US" sz="1400" dirty="0"/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031E5355-6C88-2B95-C107-E5B237157F4E}"/>
              </a:ext>
            </a:extLst>
          </p:cNvPr>
          <p:cNvSpPr/>
          <p:nvPr/>
        </p:nvSpPr>
        <p:spPr>
          <a:xfrm>
            <a:off x="5452562" y="2755702"/>
            <a:ext cx="174971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Verified connectivity via</a:t>
            </a:r>
          </a:p>
        </p:txBody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A8035A85-AFF4-5301-7E24-7647C30FBB78}"/>
              </a:ext>
            </a:extLst>
          </p:cNvPr>
          <p:cNvSpPr/>
          <p:nvPr/>
        </p:nvSpPr>
        <p:spPr>
          <a:xfrm>
            <a:off x="7244809" y="2753350"/>
            <a:ext cx="1203278" cy="1971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mosquitto_sub</a:t>
            </a:r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51CEB7A9-EE56-29EC-5CE6-B9F2B48DDC09}"/>
              </a:ext>
            </a:extLst>
          </p:cNvPr>
          <p:cNvSpPr/>
          <p:nvPr/>
        </p:nvSpPr>
        <p:spPr>
          <a:xfrm>
            <a:off x="7495719" y="2755702"/>
            <a:ext cx="4488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.</a:t>
            </a:r>
          </a:p>
        </p:txBody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C11C426E-F62E-8A5D-AA47-19BC4A07563C}"/>
              </a:ext>
            </a:extLst>
          </p:cNvPr>
          <p:cNvSpPr/>
          <p:nvPr/>
        </p:nvSpPr>
        <p:spPr>
          <a:xfrm>
            <a:off x="3608100" y="3549165"/>
            <a:ext cx="703697" cy="158698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400" kern="0" spc="1" dirty="0"/>
              <a:t>Stable</a:t>
            </a:r>
            <a:endParaRPr lang="en-US" sz="1400" dirty="0"/>
          </a:p>
        </p:txBody>
      </p:sp>
      <p:pic>
        <p:nvPicPr>
          <p:cNvPr id="54" name="Image 3" descr="preencoded.png">
            <a:extLst>
              <a:ext uri="{FF2B5EF4-FFF2-40B4-BE49-F238E27FC236}">
                <a16:creationId xmlns:a16="http://schemas.microsoft.com/office/drawing/2014/main" id="{5A409C5E-C5F0-EE69-236E-A1C12B8A0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523655"/>
            <a:ext cx="128588" cy="171450"/>
          </a:xfrm>
          <a:prstGeom prst="rect">
            <a:avLst/>
          </a:prstGeom>
        </p:spPr>
      </p:pic>
      <p:sp>
        <p:nvSpPr>
          <p:cNvPr id="55" name="Text 48">
            <a:extLst>
              <a:ext uri="{FF2B5EF4-FFF2-40B4-BE49-F238E27FC236}">
                <a16:creationId xmlns:a16="http://schemas.microsoft.com/office/drawing/2014/main" id="{E60E209A-3041-06C6-EC9A-6328E515B0D2}"/>
              </a:ext>
            </a:extLst>
          </p:cNvPr>
          <p:cNvSpPr/>
          <p:nvPr/>
        </p:nvSpPr>
        <p:spPr>
          <a:xfrm>
            <a:off x="892969" y="3511153"/>
            <a:ext cx="112017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Serial Interface</a:t>
            </a:r>
            <a:endParaRPr lang="en-US" sz="1400" dirty="0"/>
          </a:p>
        </p:txBody>
      </p:sp>
      <p:sp>
        <p:nvSpPr>
          <p:cNvPr id="56" name="Text 49">
            <a:extLst>
              <a:ext uri="{FF2B5EF4-FFF2-40B4-BE49-F238E27FC236}">
                <a16:creationId xmlns:a16="http://schemas.microsoft.com/office/drawing/2014/main" id="{3F03A6C5-6FD8-759E-9E51-31F2D7D9980A}"/>
              </a:ext>
            </a:extLst>
          </p:cNvPr>
          <p:cNvSpPr/>
          <p:nvPr/>
        </p:nvSpPr>
        <p:spPr>
          <a:xfrm>
            <a:off x="571500" y="3911203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57" name="Text 50">
            <a:extLst>
              <a:ext uri="{FF2B5EF4-FFF2-40B4-BE49-F238E27FC236}">
                <a16:creationId xmlns:a16="http://schemas.microsoft.com/office/drawing/2014/main" id="{3C1515ED-BA84-00DA-B707-D7AAC8825853}"/>
              </a:ext>
            </a:extLst>
          </p:cNvPr>
          <p:cNvSpPr/>
          <p:nvPr/>
        </p:nvSpPr>
        <p:spPr>
          <a:xfrm>
            <a:off x="678656" y="3918347"/>
            <a:ext cx="79669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Wiring Fix:</a:t>
            </a:r>
            <a:endParaRPr lang="en-US" sz="1400" dirty="0"/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7E695B11-9544-C01B-CD4B-BDE634C7C8D6}"/>
              </a:ext>
            </a:extLst>
          </p:cNvPr>
          <p:cNvSpPr/>
          <p:nvPr/>
        </p:nvSpPr>
        <p:spPr>
          <a:xfrm>
            <a:off x="1508660" y="3918347"/>
            <a:ext cx="315310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Corrected TX/RX crossover at TTL interface.</a:t>
            </a:r>
          </a:p>
        </p:txBody>
      </p:sp>
      <p:sp>
        <p:nvSpPr>
          <p:cNvPr id="59" name="Text 52">
            <a:extLst>
              <a:ext uri="{FF2B5EF4-FFF2-40B4-BE49-F238E27FC236}">
                <a16:creationId xmlns:a16="http://schemas.microsoft.com/office/drawing/2014/main" id="{9B23F366-10D4-6C2E-7649-E698BB20038B}"/>
              </a:ext>
            </a:extLst>
          </p:cNvPr>
          <p:cNvSpPr/>
          <p:nvPr/>
        </p:nvSpPr>
        <p:spPr>
          <a:xfrm>
            <a:off x="571500" y="4154091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60" name="Text 53">
            <a:extLst>
              <a:ext uri="{FF2B5EF4-FFF2-40B4-BE49-F238E27FC236}">
                <a16:creationId xmlns:a16="http://schemas.microsoft.com/office/drawing/2014/main" id="{F47CEE8C-6EC9-4917-9EAD-FBCC3421F469}"/>
              </a:ext>
            </a:extLst>
          </p:cNvPr>
          <p:cNvSpPr/>
          <p:nvPr/>
        </p:nvSpPr>
        <p:spPr>
          <a:xfrm>
            <a:off x="678656" y="4161234"/>
            <a:ext cx="126156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Error Resolution:</a:t>
            </a:r>
            <a:endParaRPr lang="en-US" sz="1400" dirty="0"/>
          </a:p>
        </p:txBody>
      </p:sp>
      <p:sp>
        <p:nvSpPr>
          <p:cNvPr id="61" name="Text 54">
            <a:extLst>
              <a:ext uri="{FF2B5EF4-FFF2-40B4-BE49-F238E27FC236}">
                <a16:creationId xmlns:a16="http://schemas.microsoft.com/office/drawing/2014/main" id="{EB87175E-AF3B-0A9F-EEFA-BACB9A13E67A}"/>
              </a:ext>
            </a:extLst>
          </p:cNvPr>
          <p:cNvSpPr/>
          <p:nvPr/>
        </p:nvSpPr>
        <p:spPr>
          <a:xfrm>
            <a:off x="2043984" y="4151952"/>
            <a:ext cx="1828962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Eliminated Modbus Error</a:t>
            </a:r>
          </a:p>
        </p:txBody>
      </p:sp>
      <p:sp>
        <p:nvSpPr>
          <p:cNvPr id="63" name="Text 56">
            <a:extLst>
              <a:ext uri="{FF2B5EF4-FFF2-40B4-BE49-F238E27FC236}">
                <a16:creationId xmlns:a16="http://schemas.microsoft.com/office/drawing/2014/main" id="{40F34998-BF9D-2403-24E3-4DEE087C60B7}"/>
              </a:ext>
            </a:extLst>
          </p:cNvPr>
          <p:cNvSpPr/>
          <p:nvPr/>
        </p:nvSpPr>
        <p:spPr>
          <a:xfrm>
            <a:off x="3876590" y="4161234"/>
            <a:ext cx="377219" cy="1971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224</a:t>
            </a:r>
          </a:p>
        </p:txBody>
      </p:sp>
      <p:sp>
        <p:nvSpPr>
          <p:cNvPr id="64" name="Text 57">
            <a:extLst>
              <a:ext uri="{FF2B5EF4-FFF2-40B4-BE49-F238E27FC236}">
                <a16:creationId xmlns:a16="http://schemas.microsoft.com/office/drawing/2014/main" id="{C944F177-002B-E647-AD69-B625BD86AFEF}"/>
              </a:ext>
            </a:extLst>
          </p:cNvPr>
          <p:cNvSpPr/>
          <p:nvPr/>
        </p:nvSpPr>
        <p:spPr>
          <a:xfrm>
            <a:off x="3307221" y="4161234"/>
            <a:ext cx="4488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.</a:t>
            </a:r>
          </a:p>
        </p:txBody>
      </p:sp>
      <p:sp>
        <p:nvSpPr>
          <p:cNvPr id="65" name="Text 58">
            <a:extLst>
              <a:ext uri="{FF2B5EF4-FFF2-40B4-BE49-F238E27FC236}">
                <a16:creationId xmlns:a16="http://schemas.microsoft.com/office/drawing/2014/main" id="{0EAC4789-4835-EE4A-70D8-A25A3C73D6C0}"/>
              </a:ext>
            </a:extLst>
          </p:cNvPr>
          <p:cNvSpPr/>
          <p:nvPr/>
        </p:nvSpPr>
        <p:spPr>
          <a:xfrm>
            <a:off x="571500" y="4396978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66" name="Text 59">
            <a:extLst>
              <a:ext uri="{FF2B5EF4-FFF2-40B4-BE49-F238E27FC236}">
                <a16:creationId xmlns:a16="http://schemas.microsoft.com/office/drawing/2014/main" id="{1318DCCA-3622-C27D-2AEF-2FD16D2FE85C}"/>
              </a:ext>
            </a:extLst>
          </p:cNvPr>
          <p:cNvSpPr/>
          <p:nvPr/>
        </p:nvSpPr>
        <p:spPr>
          <a:xfrm>
            <a:off x="678656" y="4404122"/>
            <a:ext cx="90659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Verification:</a:t>
            </a:r>
            <a:endParaRPr lang="en-US" sz="1400" dirty="0"/>
          </a:p>
        </p:txBody>
      </p:sp>
      <p:sp>
        <p:nvSpPr>
          <p:cNvPr id="67" name="Text 60">
            <a:extLst>
              <a:ext uri="{FF2B5EF4-FFF2-40B4-BE49-F238E27FC236}">
                <a16:creationId xmlns:a16="http://schemas.microsoft.com/office/drawing/2014/main" id="{94C50BBF-DB09-E8E4-52FB-73AFE1413D37}"/>
              </a:ext>
            </a:extLst>
          </p:cNvPr>
          <p:cNvSpPr/>
          <p:nvPr/>
        </p:nvSpPr>
        <p:spPr>
          <a:xfrm>
            <a:off x="1644082" y="4394785"/>
            <a:ext cx="281388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Confirmed PLC Port 2 LED activity synchronized with polling.</a:t>
            </a:r>
          </a:p>
        </p:txBody>
      </p:sp>
      <p:sp>
        <p:nvSpPr>
          <p:cNvPr id="69" name="Text 62">
            <a:extLst>
              <a:ext uri="{FF2B5EF4-FFF2-40B4-BE49-F238E27FC236}">
                <a16:creationId xmlns:a16="http://schemas.microsoft.com/office/drawing/2014/main" id="{E27FE97D-2A70-0268-8A83-76F49083FAD4}"/>
              </a:ext>
            </a:extLst>
          </p:cNvPr>
          <p:cNvSpPr/>
          <p:nvPr/>
        </p:nvSpPr>
        <p:spPr>
          <a:xfrm>
            <a:off x="7752029" y="3522042"/>
            <a:ext cx="820472" cy="158698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400" kern="0" spc="1" dirty="0"/>
              <a:t>Active</a:t>
            </a:r>
            <a:endParaRPr lang="en-US" sz="1400" dirty="0"/>
          </a:p>
        </p:txBody>
      </p:sp>
      <p:pic>
        <p:nvPicPr>
          <p:cNvPr id="70" name="Image 4" descr="preencoded.png">
            <a:extLst>
              <a:ext uri="{FF2B5EF4-FFF2-40B4-BE49-F238E27FC236}">
                <a16:creationId xmlns:a16="http://schemas.microsoft.com/office/drawing/2014/main" id="{555746CA-D163-27C4-B32E-C32EFD850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178" y="3523655"/>
            <a:ext cx="150019" cy="171450"/>
          </a:xfrm>
          <a:prstGeom prst="rect">
            <a:avLst/>
          </a:prstGeom>
        </p:spPr>
      </p:pic>
      <p:sp>
        <p:nvSpPr>
          <p:cNvPr id="71" name="Text 63">
            <a:extLst>
              <a:ext uri="{FF2B5EF4-FFF2-40B4-BE49-F238E27FC236}">
                <a16:creationId xmlns:a16="http://schemas.microsoft.com/office/drawing/2014/main" id="{0BA65E26-6F4A-EC56-69F5-E1CDC34C2A62}"/>
              </a:ext>
            </a:extLst>
          </p:cNvPr>
          <p:cNvSpPr/>
          <p:nvPr/>
        </p:nvSpPr>
        <p:spPr>
          <a:xfrm>
            <a:off x="5143500" y="3511153"/>
            <a:ext cx="122770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Data Acquisition</a:t>
            </a:r>
            <a:endParaRPr lang="en-US" sz="1400" dirty="0"/>
          </a:p>
        </p:txBody>
      </p:sp>
      <p:sp>
        <p:nvSpPr>
          <p:cNvPr id="72" name="Text 64">
            <a:extLst>
              <a:ext uri="{FF2B5EF4-FFF2-40B4-BE49-F238E27FC236}">
                <a16:creationId xmlns:a16="http://schemas.microsoft.com/office/drawing/2014/main" id="{03774F3C-276F-45F5-ED85-5226939AB5EF}"/>
              </a:ext>
            </a:extLst>
          </p:cNvPr>
          <p:cNvSpPr/>
          <p:nvPr/>
        </p:nvSpPr>
        <p:spPr>
          <a:xfrm>
            <a:off x="4822031" y="3911203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73" name="Text 65">
            <a:extLst>
              <a:ext uri="{FF2B5EF4-FFF2-40B4-BE49-F238E27FC236}">
                <a16:creationId xmlns:a16="http://schemas.microsoft.com/office/drawing/2014/main" id="{70BC4A41-0FB2-C0DC-81B9-45F5FBA86683}"/>
              </a:ext>
            </a:extLst>
          </p:cNvPr>
          <p:cNvSpPr/>
          <p:nvPr/>
        </p:nvSpPr>
        <p:spPr>
          <a:xfrm>
            <a:off x="4929188" y="3918347"/>
            <a:ext cx="55496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Polling:</a:t>
            </a:r>
            <a:endParaRPr lang="en-US" sz="1400" dirty="0"/>
          </a:p>
        </p:txBody>
      </p:sp>
      <p:sp>
        <p:nvSpPr>
          <p:cNvPr id="74" name="Text 66">
            <a:extLst>
              <a:ext uri="{FF2B5EF4-FFF2-40B4-BE49-F238E27FC236}">
                <a16:creationId xmlns:a16="http://schemas.microsoft.com/office/drawing/2014/main" id="{B347FF09-DBA6-AEA6-57E8-8CF1BBE8A8D1}"/>
              </a:ext>
            </a:extLst>
          </p:cNvPr>
          <p:cNvSpPr/>
          <p:nvPr/>
        </p:nvSpPr>
        <p:spPr>
          <a:xfrm>
            <a:off x="5525234" y="3918347"/>
            <a:ext cx="175772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Function Code 03 reads </a:t>
            </a:r>
          </a:p>
        </p:txBody>
      </p:sp>
      <p:sp>
        <p:nvSpPr>
          <p:cNvPr id="79" name="Text 71">
            <a:extLst>
              <a:ext uri="{FF2B5EF4-FFF2-40B4-BE49-F238E27FC236}">
                <a16:creationId xmlns:a16="http://schemas.microsoft.com/office/drawing/2014/main" id="{7625CB43-BC01-CCEB-BD59-82DCC5DB90F0}"/>
              </a:ext>
            </a:extLst>
          </p:cNvPr>
          <p:cNvSpPr/>
          <p:nvPr/>
        </p:nvSpPr>
        <p:spPr>
          <a:xfrm>
            <a:off x="7211283" y="3929956"/>
            <a:ext cx="1254061" cy="1971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400001-400002</a:t>
            </a:r>
          </a:p>
        </p:txBody>
      </p:sp>
      <p:sp>
        <p:nvSpPr>
          <p:cNvPr id="80" name="Text 72">
            <a:extLst>
              <a:ext uri="{FF2B5EF4-FFF2-40B4-BE49-F238E27FC236}">
                <a16:creationId xmlns:a16="http://schemas.microsoft.com/office/drawing/2014/main" id="{12E51CC4-F577-EFC4-2FFD-E00529DFDF62}"/>
              </a:ext>
            </a:extLst>
          </p:cNvPr>
          <p:cNvSpPr/>
          <p:nvPr/>
        </p:nvSpPr>
        <p:spPr>
          <a:xfrm>
            <a:off x="8129253" y="3918347"/>
            <a:ext cx="4488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.</a:t>
            </a:r>
          </a:p>
        </p:txBody>
      </p:sp>
      <p:sp>
        <p:nvSpPr>
          <p:cNvPr id="81" name="Text 73">
            <a:extLst>
              <a:ext uri="{FF2B5EF4-FFF2-40B4-BE49-F238E27FC236}">
                <a16:creationId xmlns:a16="http://schemas.microsoft.com/office/drawing/2014/main" id="{5BEBD1F9-9B9A-30FB-3154-0755BDCDE2D2}"/>
              </a:ext>
            </a:extLst>
          </p:cNvPr>
          <p:cNvSpPr/>
          <p:nvPr/>
        </p:nvSpPr>
        <p:spPr>
          <a:xfrm>
            <a:off x="4822031" y="4154091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82" name="Text 74">
            <a:extLst>
              <a:ext uri="{FF2B5EF4-FFF2-40B4-BE49-F238E27FC236}">
                <a16:creationId xmlns:a16="http://schemas.microsoft.com/office/drawing/2014/main" id="{54C7DDCD-81F9-F056-81F8-EC505D50E032}"/>
              </a:ext>
            </a:extLst>
          </p:cNvPr>
          <p:cNvSpPr/>
          <p:nvPr/>
        </p:nvSpPr>
        <p:spPr>
          <a:xfrm>
            <a:off x="4929188" y="4161234"/>
            <a:ext cx="1105559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Timestamping:</a:t>
            </a:r>
            <a:endParaRPr lang="en-US" sz="1400" dirty="0"/>
          </a:p>
        </p:txBody>
      </p:sp>
      <p:sp>
        <p:nvSpPr>
          <p:cNvPr id="83" name="Text 75">
            <a:extLst>
              <a:ext uri="{FF2B5EF4-FFF2-40B4-BE49-F238E27FC236}">
                <a16:creationId xmlns:a16="http://schemas.microsoft.com/office/drawing/2014/main" id="{9F01A93F-24DF-B45F-F496-62CEF3AC9A08}"/>
              </a:ext>
            </a:extLst>
          </p:cNvPr>
          <p:cNvSpPr/>
          <p:nvPr/>
        </p:nvSpPr>
        <p:spPr>
          <a:xfrm>
            <a:off x="6041152" y="4161234"/>
            <a:ext cx="3232184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Captures start/end times for precise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 latency measurement.</a:t>
            </a:r>
          </a:p>
        </p:txBody>
      </p:sp>
      <p:sp>
        <p:nvSpPr>
          <p:cNvPr id="84" name="Text 76">
            <a:extLst>
              <a:ext uri="{FF2B5EF4-FFF2-40B4-BE49-F238E27FC236}">
                <a16:creationId xmlns:a16="http://schemas.microsoft.com/office/drawing/2014/main" id="{046AA72F-0729-35D9-8DDC-B9F6A4819DC9}"/>
              </a:ext>
            </a:extLst>
          </p:cNvPr>
          <p:cNvSpPr/>
          <p:nvPr/>
        </p:nvSpPr>
        <p:spPr>
          <a:xfrm>
            <a:off x="4822031" y="4568428"/>
            <a:ext cx="897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/>
              <a:t>&gt;</a:t>
            </a:r>
          </a:p>
        </p:txBody>
      </p:sp>
      <p:sp>
        <p:nvSpPr>
          <p:cNvPr id="85" name="Text 77">
            <a:extLst>
              <a:ext uri="{FF2B5EF4-FFF2-40B4-BE49-F238E27FC236}">
                <a16:creationId xmlns:a16="http://schemas.microsoft.com/office/drawing/2014/main" id="{88E41D31-BA8B-F0A2-4D13-78BDA22AEDD2}"/>
              </a:ext>
            </a:extLst>
          </p:cNvPr>
          <p:cNvSpPr/>
          <p:nvPr/>
        </p:nvSpPr>
        <p:spPr>
          <a:xfrm>
            <a:off x="4929188" y="4575572"/>
            <a:ext cx="58509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/>
              <a:t>Output:</a:t>
            </a:r>
            <a:endParaRPr lang="en-US" sz="1400" dirty="0"/>
          </a:p>
        </p:txBody>
      </p:sp>
      <p:sp>
        <p:nvSpPr>
          <p:cNvPr id="86" name="Text 78">
            <a:extLst>
              <a:ext uri="{FF2B5EF4-FFF2-40B4-BE49-F238E27FC236}">
                <a16:creationId xmlns:a16="http://schemas.microsoft.com/office/drawing/2014/main" id="{A0C66926-450E-393C-0465-ACADDE6B9AC8}"/>
              </a:ext>
            </a:extLst>
          </p:cNvPr>
          <p:cNvSpPr/>
          <p:nvPr/>
        </p:nvSpPr>
        <p:spPr>
          <a:xfrm>
            <a:off x="5531674" y="4586160"/>
            <a:ext cx="3283976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/>
              <a:t>Serializes data to JSON for MQTT publication.</a:t>
            </a:r>
          </a:p>
        </p:txBody>
      </p:sp>
    </p:spTree>
    <p:extLst>
      <p:ext uri="{BB962C8B-B14F-4D97-AF65-F5344CB8AC3E}">
        <p14:creationId xmlns:p14="http://schemas.microsoft.com/office/powerpoint/2010/main" val="2723578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DE26EFA-A7E5-DED1-7189-BDCAF1223430}"/>
              </a:ext>
            </a:extLst>
          </p:cNvPr>
          <p:cNvSpPr/>
          <p:nvPr/>
        </p:nvSpPr>
        <p:spPr>
          <a:xfrm>
            <a:off x="843612" y="91797"/>
            <a:ext cx="7015043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PLC Ladder Logic for Testing</a:t>
            </a:r>
            <a:endParaRPr lang="en-US" sz="41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DC44623-6E96-E380-7421-58CC65CCB8E4}"/>
              </a:ext>
            </a:extLst>
          </p:cNvPr>
          <p:cNvSpPr/>
          <p:nvPr/>
        </p:nvSpPr>
        <p:spPr>
          <a:xfrm>
            <a:off x="138064" y="1119365"/>
            <a:ext cx="8465940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PLC program provides unambiguous signals for verifying Modbus communication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and data freshness.</a:t>
            </a:r>
            <a:endParaRPr lang="en-US" sz="16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DB63CB-E770-3782-5E1F-A5AFCB9097F3}"/>
              </a:ext>
            </a:extLst>
          </p:cNvPr>
          <p:cNvSpPr/>
          <p:nvPr/>
        </p:nvSpPr>
        <p:spPr>
          <a:xfrm>
            <a:off x="843612" y="2660665"/>
            <a:ext cx="632460" cy="632460"/>
          </a:xfrm>
          <a:prstGeom prst="roundRect">
            <a:avLst>
              <a:gd name="adj" fmla="val 14457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D6558E-6D20-5C51-1CD9-382AB4E0F32D}"/>
              </a:ext>
            </a:extLst>
          </p:cNvPr>
          <p:cNvSpPr/>
          <p:nvPr/>
        </p:nvSpPr>
        <p:spPr>
          <a:xfrm>
            <a:off x="1101120" y="2767243"/>
            <a:ext cx="252889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A234ABA-9560-FFE1-126C-CA24E4C17B51}"/>
              </a:ext>
            </a:extLst>
          </p:cNvPr>
          <p:cNvSpPr/>
          <p:nvPr/>
        </p:nvSpPr>
        <p:spPr>
          <a:xfrm>
            <a:off x="224790" y="3512015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Heartbeat Output</a:t>
            </a:r>
            <a:endParaRPr lang="en-US" sz="205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F6D235B-AEBE-0F2C-545D-B6C0FFBD1921}"/>
              </a:ext>
            </a:extLst>
          </p:cNvPr>
          <p:cNvSpPr/>
          <p:nvPr/>
        </p:nvSpPr>
        <p:spPr>
          <a:xfrm>
            <a:off x="138065" y="4060453"/>
            <a:ext cx="2378994" cy="1167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SP1 energizes Y001 continuously, verifying CPU is in RUN mode.</a:t>
            </a:r>
            <a:endParaRPr lang="en-US" sz="165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3617E3DB-568D-68B5-75A6-EA30893B10E2}"/>
              </a:ext>
            </a:extLst>
          </p:cNvPr>
          <p:cNvSpPr/>
          <p:nvPr/>
        </p:nvSpPr>
        <p:spPr>
          <a:xfrm>
            <a:off x="3587057" y="2695559"/>
            <a:ext cx="632460" cy="632460"/>
          </a:xfrm>
          <a:prstGeom prst="roundRect">
            <a:avLst>
              <a:gd name="adj" fmla="val 14457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666DF0B0-79DB-9B86-4CB7-2BA8CC0838B8}"/>
              </a:ext>
            </a:extLst>
          </p:cNvPr>
          <p:cNvSpPr/>
          <p:nvPr/>
        </p:nvSpPr>
        <p:spPr>
          <a:xfrm>
            <a:off x="3822933" y="2767243"/>
            <a:ext cx="252889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EE12D2E-229E-ACAC-1C1D-93983982F945}"/>
              </a:ext>
            </a:extLst>
          </p:cNvPr>
          <p:cNvSpPr/>
          <p:nvPr/>
        </p:nvSpPr>
        <p:spPr>
          <a:xfrm>
            <a:off x="2683371" y="3498404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Static Value (DS1)</a:t>
            </a:r>
            <a:endParaRPr lang="en-US" sz="2050" b="1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5BC849D-B9E4-9621-C48C-D652AD715F44}"/>
              </a:ext>
            </a:extLst>
          </p:cNvPr>
          <p:cNvSpPr/>
          <p:nvPr/>
        </p:nvSpPr>
        <p:spPr>
          <a:xfrm>
            <a:off x="2683371" y="3983368"/>
            <a:ext cx="2980010" cy="1525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Constant value 1 moved to DS1 (Modbus register 400001), checking for communication issues.</a:t>
            </a:r>
            <a:endParaRPr lang="en-US" sz="1650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B77D973-2ECB-58C9-F95D-B6E526B9D1A2}"/>
              </a:ext>
            </a:extLst>
          </p:cNvPr>
          <p:cNvSpPr/>
          <p:nvPr/>
        </p:nvSpPr>
        <p:spPr>
          <a:xfrm>
            <a:off x="6649810" y="2660665"/>
            <a:ext cx="632460" cy="632460"/>
          </a:xfrm>
          <a:prstGeom prst="roundRect">
            <a:avLst>
              <a:gd name="adj" fmla="val 14457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EC0072CA-EFDF-CB21-1110-B3DD04016CC8}"/>
              </a:ext>
            </a:extLst>
          </p:cNvPr>
          <p:cNvSpPr/>
          <p:nvPr/>
        </p:nvSpPr>
        <p:spPr>
          <a:xfrm>
            <a:off x="6865358" y="2767243"/>
            <a:ext cx="252889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32470CA3-3EC6-51CA-D498-6F995D8D6266}"/>
              </a:ext>
            </a:extLst>
          </p:cNvPr>
          <p:cNvSpPr/>
          <p:nvPr/>
        </p:nvSpPr>
        <p:spPr>
          <a:xfrm>
            <a:off x="5537122" y="3489376"/>
            <a:ext cx="3490912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Incrementing Counter (DS2)</a:t>
            </a:r>
            <a:endParaRPr lang="en-US" sz="2050" b="1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64836EBD-58BA-3D8A-B713-8F9F93893B56}"/>
              </a:ext>
            </a:extLst>
          </p:cNvPr>
          <p:cNvSpPr/>
          <p:nvPr/>
        </p:nvSpPr>
        <p:spPr>
          <a:xfrm>
            <a:off x="5537122" y="3983367"/>
            <a:ext cx="2980011" cy="131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DS2 increments each PLC scan (Modbus register 400002), verifying fresh data reads.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271490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RESULTS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950ECE9-969C-3425-2DD9-14D395C4F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76" y="3577445"/>
            <a:ext cx="849396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Modbus read cycle averaged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10–12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stable timing jitter</a:t>
            </a:r>
            <a:r>
              <a:rPr lang="en-US" altLang="en-US" sz="2200" dirty="0"/>
              <a:t> for every 30 scans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MQTT telemetry published without packet drops across repeated cycles.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ESP32 polling loop maintained deterministic timing under continuous load.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RS-232 maintained synchronization with zero framing or parity faults.</a:t>
            </a:r>
          </a:p>
        </p:txBody>
      </p:sp>
      <p:pic>
        <p:nvPicPr>
          <p:cNvPr id="9" name="Picture 8" descr="A close-up of a number&#10;&#10;AI-generated content may be incorrect.">
            <a:extLst>
              <a:ext uri="{FF2B5EF4-FFF2-40B4-BE49-F238E27FC236}">
                <a16:creationId xmlns:a16="http://schemas.microsoft.com/office/drawing/2014/main" id="{EA8CA9AE-835F-D335-9F00-8EB69C8D7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48" y="1816509"/>
            <a:ext cx="8493964" cy="9640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"/>
            <a:ext cx="9144000" cy="1142999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</a:t>
            </a:r>
            <a:r>
              <a:rPr lang="en-IN" dirty="0"/>
              <a:t>RESULTS</a:t>
            </a:r>
            <a:endParaRPr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58751A5-9393-7334-CCF5-46025490D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554" y="2507328"/>
            <a:ext cx="542013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 isolation prevented unintended PLC write collisions.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Serial monitor outputs confirmed consistent Modbus FC03 responses.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Error-handling eliminated Modbus 224 faults during extended testing.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chain (PLC → ESP32 → MQTT ) remained stable for multi-hour runs.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Controlled write-path validation ensured safe, bounded register updates.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B38174-70EB-2BC9-DB63-3077BB6A0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B746CDA-61BD-8133-6F1A-6F2A32317893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6B97364-94F2-6AD9-7744-6090EDA567D0}"/>
              </a:ext>
            </a:extLst>
          </p:cNvPr>
          <p:cNvSpPr/>
          <p:nvPr/>
        </p:nvSpPr>
        <p:spPr>
          <a:xfrm>
            <a:off x="150129" y="524300"/>
            <a:ext cx="8985670" cy="65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00"/>
              </a:lnSpc>
              <a:buNone/>
            </a:pPr>
            <a:r>
              <a:rPr lang="en-IN" sz="4400" dirty="0">
                <a:latin typeface="+mj-lt"/>
              </a:rPr>
              <a:t>P</a:t>
            </a:r>
            <a:r>
              <a:rPr lang="en-US" sz="4400" dirty="0">
                <a:latin typeface="+mj-lt"/>
              </a:rPr>
              <a:t>ROJECT RESULTS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651516E-E734-C290-B1F0-BA9CD7D7B594}"/>
              </a:ext>
            </a:extLst>
          </p:cNvPr>
          <p:cNvSpPr/>
          <p:nvPr/>
        </p:nvSpPr>
        <p:spPr>
          <a:xfrm>
            <a:off x="373000" y="1495349"/>
            <a:ext cx="8691716" cy="66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successfully demonstrated deterministic Modbus-to-MQTT processing with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low latency and jitter.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89EBEAD-E251-35CA-F246-CE3B29B6C77A}"/>
              </a:ext>
            </a:extLst>
          </p:cNvPr>
          <p:cNvSpPr/>
          <p:nvPr/>
        </p:nvSpPr>
        <p:spPr>
          <a:xfrm>
            <a:off x="1199683" y="2672402"/>
            <a:ext cx="1184384" cy="520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4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11ms</a:t>
            </a:r>
            <a:endParaRPr lang="en-US" sz="24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7149B63-301C-D8C5-D09B-126C186D0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705" y="2386917"/>
            <a:ext cx="1220362" cy="122036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52D7ECB0-65BA-EB22-DEBC-74031E755E31}"/>
              </a:ext>
            </a:extLst>
          </p:cNvPr>
          <p:cNvSpPr/>
          <p:nvPr/>
        </p:nvSpPr>
        <p:spPr>
          <a:xfrm>
            <a:off x="474319" y="3700464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P95 Latency</a:t>
            </a:r>
            <a:endParaRPr lang="en-US" sz="20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1BCFB71-8375-3C79-20DD-E8940E328F93}"/>
              </a:ext>
            </a:extLst>
          </p:cNvPr>
          <p:cNvSpPr/>
          <p:nvPr/>
        </p:nvSpPr>
        <p:spPr>
          <a:xfrm>
            <a:off x="803015" y="4071422"/>
            <a:ext cx="2161667" cy="1342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Achieved 95th-percentile latency, well below the 100 ms target.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5F463D1-88B0-26A0-E9EA-26D8D5DA968A}"/>
              </a:ext>
            </a:extLst>
          </p:cNvPr>
          <p:cNvSpPr/>
          <p:nvPr/>
        </p:nvSpPr>
        <p:spPr>
          <a:xfrm>
            <a:off x="4090688" y="2715067"/>
            <a:ext cx="1220363" cy="520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4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&lt;0.5ms</a:t>
            </a:r>
            <a:endParaRPr lang="en-US" sz="2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6A0085B-4AA9-0F89-4F63-66BA79C219FD}"/>
              </a:ext>
            </a:extLst>
          </p:cNvPr>
          <p:cNvSpPr/>
          <p:nvPr/>
        </p:nvSpPr>
        <p:spPr>
          <a:xfrm>
            <a:off x="3456309" y="3643653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Jitter</a:t>
            </a:r>
            <a:endParaRPr lang="en-US" sz="2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0AEE8BE-A739-826A-1638-8F8007597C8D}"/>
              </a:ext>
            </a:extLst>
          </p:cNvPr>
          <p:cNvSpPr/>
          <p:nvPr/>
        </p:nvSpPr>
        <p:spPr>
          <a:xfrm>
            <a:off x="3751528" y="4075382"/>
            <a:ext cx="2161667" cy="105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 jitter (p95 – p50) remained effectively zero.</a:t>
            </a:r>
            <a:endParaRPr lang="en-US" sz="16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5825967-0008-2B42-5616-5141CC1A66BB}"/>
              </a:ext>
            </a:extLst>
          </p:cNvPr>
          <p:cNvSpPr/>
          <p:nvPr/>
        </p:nvSpPr>
        <p:spPr>
          <a:xfrm>
            <a:off x="6041041" y="2854808"/>
            <a:ext cx="2559963" cy="520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</a:t>
            </a:r>
            <a:endParaRPr lang="en-US" sz="4050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817FE475-7A4F-3399-18B5-179AF8077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640" y="2386917"/>
            <a:ext cx="1288767" cy="1288767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F6AACB1B-B597-C6DC-E6F2-AD8628BCA377}"/>
              </a:ext>
            </a:extLst>
          </p:cNvPr>
          <p:cNvSpPr/>
          <p:nvPr/>
        </p:nvSpPr>
        <p:spPr>
          <a:xfrm>
            <a:off x="5999369" y="3680422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Errors</a:t>
            </a:r>
            <a:endParaRPr lang="en-US" sz="20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CD693B9-79BB-8930-4EBD-59FC6CD90180}"/>
              </a:ext>
            </a:extLst>
          </p:cNvPr>
          <p:cNvSpPr/>
          <p:nvPr/>
        </p:nvSpPr>
        <p:spPr>
          <a:xfrm>
            <a:off x="6512184" y="4059124"/>
            <a:ext cx="1828801" cy="1429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Modbus timeouts, CRC errors, or parsing faults observed.</a:t>
            </a:r>
            <a:endParaRPr lang="en-US" sz="160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5D77651B-77AE-0834-DEB3-8AA4D79EB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677" y="2386917"/>
            <a:ext cx="1220362" cy="1220362"/>
          </a:xfrm>
          <a:prstGeom prst="rect">
            <a:avLst/>
          </a:prstGeom>
        </p:spPr>
      </p:pic>
      <p:sp>
        <p:nvSpPr>
          <p:cNvPr id="20" name="Text 11">
            <a:extLst>
              <a:ext uri="{FF2B5EF4-FFF2-40B4-BE49-F238E27FC236}">
                <a16:creationId xmlns:a16="http://schemas.microsoft.com/office/drawing/2014/main" id="{128C30FD-6AEF-EAE7-073E-5AC58A5E8D26}"/>
              </a:ext>
            </a:extLst>
          </p:cNvPr>
          <p:cNvSpPr/>
          <p:nvPr/>
        </p:nvSpPr>
        <p:spPr>
          <a:xfrm>
            <a:off x="368354" y="5623531"/>
            <a:ext cx="8126717" cy="8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stability of the latency distribution confirms efficient execution without blocking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delays, even with concurrent tasks like OLED rendering and MQTT publishing.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54079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ANALYSIS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551A329-03DC-8697-52CC-B00AF14C0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523" y="1231080"/>
            <a:ext cx="4168877" cy="276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2015B68-C223-061D-BF4B-E682C9501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523" y="3991456"/>
            <a:ext cx="4188540" cy="277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9440C4-95DC-6AF1-D7F5-407D68169040}"/>
              </a:ext>
            </a:extLst>
          </p:cNvPr>
          <p:cNvSpPr txBox="1"/>
          <p:nvPr/>
        </p:nvSpPr>
        <p:spPr>
          <a:xfrm>
            <a:off x="100780" y="2146492"/>
            <a:ext cx="46088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LATENCY STABILITY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Modbus polling intervals remained tightly clustered, with no missed or delayed cycles.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Jitter stayed below </a:t>
            </a:r>
            <a:r>
              <a:rPr lang="en-US" b="1" dirty="0"/>
              <a:t>0.5 </a:t>
            </a:r>
            <a:r>
              <a:rPr lang="en-US" b="1" dirty="0" err="1"/>
              <a:t>ms</a:t>
            </a:r>
            <a:r>
              <a:rPr lang="en-US" dirty="0"/>
              <a:t>, proving stable communication timing.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ESP32 maintained deterministic loop execution under continuous sampling 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latency spikes were observed even when MQTT was active.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results confirm the system is suitable for low-latency industrial telemetry.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56BE1F4-BD0F-3100-7F02-BE4EE0BE1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43168" y="3610905"/>
            <a:ext cx="4091946" cy="270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5C74478-4FF9-0BC2-E946-9C506D8AC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4336" y="1184866"/>
            <a:ext cx="3612384" cy="238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19E654-C212-9B0B-5AFE-CC44DAE82938}"/>
              </a:ext>
            </a:extLst>
          </p:cNvPr>
          <p:cNvSpPr txBox="1"/>
          <p:nvPr/>
        </p:nvSpPr>
        <p:spPr>
          <a:xfrm>
            <a:off x="264569" y="1772182"/>
            <a:ext cx="457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DISTRIBUTION &amp; JITTER PROFILE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Histogram shows most latency samples fall between </a:t>
            </a:r>
            <a:r>
              <a:rPr lang="en-US" b="1" dirty="0"/>
              <a:t>9.5–10.5 </a:t>
            </a:r>
            <a:r>
              <a:rPr lang="en-US" b="1" dirty="0" err="1"/>
              <a:t>ms</a:t>
            </a:r>
            <a:r>
              <a:rPr lang="en-US" dirty="0"/>
              <a:t>, indicating consistent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CDF curve rises steeply, proving extremely low variance in latency.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heavy-tail behavior means the system does </a:t>
            </a:r>
            <a:r>
              <a:rPr lang="en-US" b="1" dirty="0"/>
              <a:t>not</a:t>
            </a:r>
            <a:r>
              <a:rPr lang="en-US" dirty="0"/>
              <a:t> experience unpredictable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confirms Modbus→ESP32→MQTT chain meets determinism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Validates the ESP32 as a reliable low-cost industrial polling device.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59D32-B67B-66A6-6FEA-CC7434A0B9FF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C5F71-9D6D-DFD9-500F-36EDDF6A3E4E}"/>
              </a:ext>
            </a:extLst>
          </p:cNvPr>
          <p:cNvSpPr txBox="1"/>
          <p:nvPr/>
        </p:nvSpPr>
        <p:spPr>
          <a:xfrm>
            <a:off x="2657168" y="415425"/>
            <a:ext cx="46260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987409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IMPLICATIONS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2263E21-F66E-C3B4-2F36-D2F6B22CB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89" y="2148796"/>
            <a:ext cx="854423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can evolve into a general-purpose IIoT edge controller capable of handling multiple PLCs and multiple communication channels.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 upgrades such as TLS encryption and certificate-based authentication can harden the MQTT communication path.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full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MQTT → Node-RED → OPC UA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pipeline can be integrated to support enterprise-level SCADA and MES connectivity.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Additional industrial protocols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Profinet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EtherNet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/IP, BACnet) can be layered onto the gateway to widen cross-vendor compatibility.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Predictive maintenance frameworks can subscribe to high-resolution telemetry for anomaly detection and machine diagnostics.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architecture provides a low-cost path for plants to transition into Industry 4.0 without replacing legacy hardware.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DDF20-AED4-EFA2-BBEC-269471395E24}"/>
              </a:ext>
            </a:extLst>
          </p:cNvPr>
          <p:cNvSpPr txBox="1"/>
          <p:nvPr/>
        </p:nvSpPr>
        <p:spPr>
          <a:xfrm>
            <a:off x="285135" y="2105994"/>
            <a:ext cx="857372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project successfully demonstrated a low-cost and deterministic Modbus-to-MQTT bridge for legacy Click PLCs.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ESP32 proved reliable for continuous Modbus polling, telemetry publishing, and real-time latency measurement.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RS-232 transport showed stable behavior with no data corruption or jitter spikes across extended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system validated a safe write-path design through topic isolation and value-bound checks.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Overall, the prototype provides a practical foundation for extending legacy automation systems into modern IIoT architectures.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4C5292-03BA-2FB6-15CD-115E29CA650F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296A3-9685-B38D-E486-7292F056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88" y="2742535"/>
            <a:ext cx="8229600" cy="1143000"/>
          </a:xfrm>
        </p:spPr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719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1514</Words>
  <Application>Microsoft Office PowerPoint</Application>
  <PresentationFormat>On-screen Show (4:3)</PresentationFormat>
  <Paragraphs>196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Instrument Sans Medium</vt:lpstr>
      <vt:lpstr>Open Sans</vt:lpstr>
      <vt:lpstr>Office Theme</vt:lpstr>
      <vt:lpstr>ESP32-Based Universal PLC Protocol Bridge </vt:lpstr>
      <vt:lpstr>PROBLEM IDENTIFICATION</vt:lpstr>
      <vt:lpstr>Problem Identification</vt:lpstr>
      <vt:lpstr>PROBLEM IDENTIFICATION</vt:lpstr>
      <vt:lpstr>LITERATURE REVIEW</vt:lpstr>
      <vt:lpstr>COMPARATIVE ANALYSIS</vt:lpstr>
      <vt:lpstr>PROJECT DESCRIPTION</vt:lpstr>
      <vt:lpstr>WORKING PRINCIPLE</vt:lpstr>
      <vt:lpstr>PowerPoint Presentation</vt:lpstr>
      <vt:lpstr>PROJECT SETUP</vt:lpstr>
      <vt:lpstr>PowerPoint Presentation</vt:lpstr>
      <vt:lpstr>PowerPoint Presentation</vt:lpstr>
      <vt:lpstr>PROJECT RESULTS</vt:lpstr>
      <vt:lpstr>PROJECT RESULTS</vt:lpstr>
      <vt:lpstr>PowerPoint Presentation</vt:lpstr>
      <vt:lpstr>DATA ANALYSIS</vt:lpstr>
      <vt:lpstr>PowerPoint Presentation</vt:lpstr>
      <vt:lpstr>FUTURE IMPLICATIONS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Ale, Charith Sai Sathvik</cp:lastModifiedBy>
  <cp:revision>11</cp:revision>
  <dcterms:created xsi:type="dcterms:W3CDTF">2013-01-27T09:14:16Z</dcterms:created>
  <dcterms:modified xsi:type="dcterms:W3CDTF">2026-07-16T19:19:06Z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2025-12-08T05:28:02Z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651bbdb9-5f4f-444d-ab3c-36c580e2b722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10, 3, 0, 1</vt:lpwstr>
  </property>
</Properties>
</file>